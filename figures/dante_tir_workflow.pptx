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53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5120" y="365760"/>
            <a:ext cx="3251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777777"/>
                </a:solidFill>
                <a:latin typeface="DejaVu San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240" y="365760"/>
            <a:ext cx="1056640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111111"/>
                </a:solidFill>
                <a:latin typeface="DejaVu Sans"/>
              </a:rPr>
              <a:t>DANTE transposase domains</a:t>
            </a:r>
            <a:r>
              <a:rPr sz="1216" b="0">
                <a:solidFill>
                  <a:srgbClr val="6E6E6E"/>
                </a:solidFill>
                <a:latin typeface="DejaVu Sans"/>
              </a:rPr>
              <a:t>      colour = the superfamily DANTE assigned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5120" y="975360"/>
            <a:ext cx="1398016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sp>
        <p:nvSpPr>
          <p:cNvPr id="5" name="Pentagon 4"/>
          <p:cNvSpPr/>
          <p:nvPr/>
        </p:nvSpPr>
        <p:spPr>
          <a:xfrm>
            <a:off x="2032000" y="837184"/>
            <a:ext cx="1056640" cy="276352"/>
          </a:xfrm>
          <a:prstGeom prst="homePlate">
            <a:avLst/>
          </a:prstGeom>
          <a:solidFill>
            <a:srgbClr val="007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32000" y="837184"/>
            <a:ext cx="91846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hAT</a:t>
            </a:r>
          </a:p>
        </p:txBody>
      </p:sp>
      <p:sp>
        <p:nvSpPr>
          <p:cNvPr id="7" name="Pentagon 6"/>
          <p:cNvSpPr/>
          <p:nvPr/>
        </p:nvSpPr>
        <p:spPr>
          <a:xfrm>
            <a:off x="4226560" y="837184"/>
            <a:ext cx="1056640" cy="27635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6560" y="837184"/>
            <a:ext cx="91846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CACTA</a:t>
            </a:r>
          </a:p>
        </p:txBody>
      </p:sp>
      <p:sp>
        <p:nvSpPr>
          <p:cNvPr id="9" name="Pentagon 8"/>
          <p:cNvSpPr/>
          <p:nvPr/>
        </p:nvSpPr>
        <p:spPr>
          <a:xfrm>
            <a:off x="7315200" y="837184"/>
            <a:ext cx="1056640" cy="276352"/>
          </a:xfrm>
          <a:prstGeom prst="homePlate">
            <a:avLst/>
          </a:prstGeom>
          <a:solidFill>
            <a:srgbClr val="CC79A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837184"/>
            <a:ext cx="91846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MuDR</a:t>
            </a:r>
          </a:p>
        </p:txBody>
      </p:sp>
      <p:sp>
        <p:nvSpPr>
          <p:cNvPr id="11" name="Pentagon 10"/>
          <p:cNvSpPr/>
          <p:nvPr/>
        </p:nvSpPr>
        <p:spPr>
          <a:xfrm>
            <a:off x="9591040" y="837184"/>
            <a:ext cx="1056640" cy="276352"/>
          </a:xfrm>
          <a:prstGeom prst="homePlate">
            <a:avLst/>
          </a:prstGeom>
          <a:solidFill>
            <a:srgbClr val="0072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91040" y="837184"/>
            <a:ext cx="91846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hAT</a:t>
            </a:r>
          </a:p>
        </p:txBody>
      </p:sp>
      <p:sp>
        <p:nvSpPr>
          <p:cNvPr id="13" name="Pentagon 12"/>
          <p:cNvSpPr/>
          <p:nvPr/>
        </p:nvSpPr>
        <p:spPr>
          <a:xfrm>
            <a:off x="11866880" y="837184"/>
            <a:ext cx="1056640" cy="27635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66880" y="837184"/>
            <a:ext cx="91846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CACTA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120" y="1584960"/>
            <a:ext cx="3251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777777"/>
                </a:solidFill>
                <a:latin typeface="DejaVu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" y="1584960"/>
            <a:ext cx="1056640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111111"/>
                </a:solidFill>
                <a:latin typeface="DejaVu Sans"/>
              </a:rPr>
              <a:t>Flanking regions</a:t>
            </a:r>
            <a:r>
              <a:rPr sz="1216" b="0">
                <a:solidFill>
                  <a:srgbClr val="6E6E6E"/>
                </a:solidFill>
                <a:latin typeface="DejaVu Sans"/>
              </a:rPr>
              <a:t>      6 kb on each side of every domain, processed separately for each superfamily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5120" y="2316480"/>
            <a:ext cx="1398016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3088640" y="2032000"/>
            <a:ext cx="4145280" cy="568960"/>
          </a:xfrm>
          <a:prstGeom prst="rect">
            <a:avLst/>
          </a:prstGeom>
          <a:solidFill>
            <a:srgbClr val="EBEBEB"/>
          </a:solidFill>
          <a:ln w="15240">
            <a:solidFill>
              <a:srgbClr val="AAAAA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3120" y="2032000"/>
            <a:ext cx="4145280" cy="568960"/>
          </a:xfrm>
          <a:prstGeom prst="rect">
            <a:avLst/>
          </a:prstGeom>
          <a:solidFill>
            <a:srgbClr val="EBEBEB"/>
          </a:solidFill>
          <a:ln w="15240">
            <a:solidFill>
              <a:srgbClr val="AAAAA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entagon 19"/>
          <p:cNvSpPr/>
          <p:nvPr/>
        </p:nvSpPr>
        <p:spPr>
          <a:xfrm>
            <a:off x="7315200" y="2178304"/>
            <a:ext cx="1056640" cy="27635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178304"/>
            <a:ext cx="91846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CACTA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69920" y="2414016"/>
            <a:ext cx="3982720" cy="0"/>
          </a:xfrm>
          <a:prstGeom prst="line">
            <a:avLst/>
          </a:prstGeom>
          <a:ln w="12700">
            <a:solidFill>
              <a:srgbClr val="6E6E6E"/>
            </a:solidFill>
            <a:headEnd type="triangle" w="med" len="med"/>
            <a:tailEnd type="triangl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3169920" y="2202688"/>
            <a:ext cx="398272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0">
                <a:solidFill>
                  <a:srgbClr val="6E6E6E"/>
                </a:solidFill>
                <a:latin typeface="DejaVu Sans"/>
              </a:rPr>
              <a:t>6 kb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34400" y="2414016"/>
            <a:ext cx="3982720" cy="0"/>
          </a:xfrm>
          <a:prstGeom prst="line">
            <a:avLst/>
          </a:prstGeom>
          <a:ln w="12700">
            <a:solidFill>
              <a:srgbClr val="6E6E6E"/>
            </a:solidFill>
            <a:headEnd type="triangle" w="med" len="med"/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8534400" y="2202688"/>
            <a:ext cx="398272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0">
                <a:solidFill>
                  <a:srgbClr val="6E6E6E"/>
                </a:solidFill>
                <a:latin typeface="DejaVu Sans"/>
              </a:rPr>
              <a:t>6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120" y="3007360"/>
            <a:ext cx="3251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777777"/>
                </a:solidFill>
                <a:latin typeface="DejaVu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240" y="3007360"/>
            <a:ext cx="1056640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111111"/>
                </a:solidFill>
                <a:latin typeface="DejaVu Sans"/>
              </a:rPr>
              <a:t>Copies compared</a:t>
            </a:r>
            <a:r>
              <a:rPr sz="1216" b="0">
                <a:solidFill>
                  <a:srgbClr val="6E6E6E"/>
                </a:solidFill>
                <a:latin typeface="DejaVu Sans"/>
              </a:rPr>
              <a:t>      flanks of all copies are aligned; the element is shared, the insertion site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6400" y="3007360"/>
            <a:ext cx="37388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80" b="1">
                <a:solidFill>
                  <a:srgbClr val="1B7F3B"/>
                </a:solidFill>
                <a:latin typeface="DejaVu Sans"/>
              </a:rPr>
              <a:t>✓ element ends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8640" y="3454400"/>
            <a:ext cx="146304" cy="113792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34944" y="3454400"/>
            <a:ext cx="162560" cy="11379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97504" y="3454400"/>
            <a:ext cx="73152" cy="11379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0656" y="3454400"/>
            <a:ext cx="203200" cy="11379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73856" y="3454400"/>
            <a:ext cx="154432" cy="113792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28288" y="3454400"/>
            <a:ext cx="73152" cy="11379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01440" y="3454400"/>
            <a:ext cx="113792" cy="113792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15232" y="3454400"/>
            <a:ext cx="81280" cy="113792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96512" y="3454400"/>
            <a:ext cx="170688" cy="11379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67200" y="3454400"/>
            <a:ext cx="121920" cy="113792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3454400"/>
            <a:ext cx="162560" cy="113792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51680" y="3454400"/>
            <a:ext cx="658368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Pentagon 40"/>
          <p:cNvSpPr/>
          <p:nvPr/>
        </p:nvSpPr>
        <p:spPr>
          <a:xfrm>
            <a:off x="7315200" y="3454400"/>
            <a:ext cx="1056640" cy="11379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35360" y="3454400"/>
            <a:ext cx="73152" cy="11379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08512" y="3454400"/>
            <a:ext cx="89408" cy="113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297920" y="3454400"/>
            <a:ext cx="211328" cy="11379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509248" y="3454400"/>
            <a:ext cx="211328" cy="113792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20576" y="3454400"/>
            <a:ext cx="162560" cy="11379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883136" y="3454400"/>
            <a:ext cx="121920" cy="113792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05056" y="3454400"/>
            <a:ext cx="203200" cy="1137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208256" y="3454400"/>
            <a:ext cx="138176" cy="11379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346432" y="3454400"/>
            <a:ext cx="97536" cy="11379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443968" y="3454400"/>
            <a:ext cx="89408" cy="11379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533376" y="3454400"/>
            <a:ext cx="65024" cy="113792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88640" y="3633216"/>
            <a:ext cx="105664" cy="11379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94304" y="3633216"/>
            <a:ext cx="211328" cy="11379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05632" y="3633216"/>
            <a:ext cx="113792" cy="113792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19424" y="3633216"/>
            <a:ext cx="89408" cy="113792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08832" y="3633216"/>
            <a:ext cx="81280" cy="11379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90112" y="3633216"/>
            <a:ext cx="73152" cy="113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63264" y="3633216"/>
            <a:ext cx="113792" cy="113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877056" y="3633216"/>
            <a:ext cx="203200" cy="113792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80256" y="3633216"/>
            <a:ext cx="146304" cy="11379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26560" y="3633216"/>
            <a:ext cx="211328" cy="11379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37888" y="3633216"/>
            <a:ext cx="113792" cy="113792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51680" y="3633216"/>
            <a:ext cx="658368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Pentagon 64"/>
          <p:cNvSpPr/>
          <p:nvPr/>
        </p:nvSpPr>
        <p:spPr>
          <a:xfrm>
            <a:off x="7315200" y="3633216"/>
            <a:ext cx="1056640" cy="11379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135360" y="3633216"/>
            <a:ext cx="121920" cy="1137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257280" y="3633216"/>
            <a:ext cx="121920" cy="113792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379200" y="3633216"/>
            <a:ext cx="211328" cy="113792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590528" y="3633216"/>
            <a:ext cx="195072" cy="113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785600" y="3633216"/>
            <a:ext cx="146304" cy="113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931904" y="3633216"/>
            <a:ext cx="138176" cy="1137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070080" y="3633216"/>
            <a:ext cx="81280" cy="113792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151360" y="3633216"/>
            <a:ext cx="195072" cy="11379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346432" y="3633216"/>
            <a:ext cx="105664" cy="11379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452096" y="3633216"/>
            <a:ext cx="97536" cy="113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549632" y="3633216"/>
            <a:ext cx="48768" cy="113792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088640" y="3812032"/>
            <a:ext cx="81280" cy="113792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69920" y="3812032"/>
            <a:ext cx="211328" cy="11379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381248" y="3812032"/>
            <a:ext cx="146304" cy="113792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27552" y="3812032"/>
            <a:ext cx="186944" cy="113792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714496" y="3812032"/>
            <a:ext cx="178816" cy="11379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93312" y="3812032"/>
            <a:ext cx="81280" cy="11379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74592" y="3812032"/>
            <a:ext cx="186944" cy="1137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61536" y="3812032"/>
            <a:ext cx="81280" cy="11379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242816" y="3812032"/>
            <a:ext cx="138176" cy="113792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80992" y="3812032"/>
            <a:ext cx="170688" cy="113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551680" y="3812032"/>
            <a:ext cx="658368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Pentagon 87"/>
          <p:cNvSpPr/>
          <p:nvPr/>
        </p:nvSpPr>
        <p:spPr>
          <a:xfrm>
            <a:off x="7315200" y="3812032"/>
            <a:ext cx="1056640" cy="11379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35360" y="3812032"/>
            <a:ext cx="138176" cy="11379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273536" y="3812032"/>
            <a:ext cx="154432" cy="113792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27968" y="3812032"/>
            <a:ext cx="178816" cy="113792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606784" y="3812032"/>
            <a:ext cx="105664" cy="113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712448" y="3812032"/>
            <a:ext cx="89408" cy="113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801856" y="3812032"/>
            <a:ext cx="73152" cy="113792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875008" y="3812032"/>
            <a:ext cx="138176" cy="1137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013184" y="3812032"/>
            <a:ext cx="121920" cy="1137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135104" y="3812032"/>
            <a:ext cx="162560" cy="113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297664" y="3812032"/>
            <a:ext cx="81280" cy="113792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378944" y="3812032"/>
            <a:ext cx="178816" cy="1137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2557760" y="3812032"/>
            <a:ext cx="40640" cy="11379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088640" y="3990848"/>
            <a:ext cx="97536" cy="113792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86176" y="3990848"/>
            <a:ext cx="203200" cy="113792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89376" y="3990848"/>
            <a:ext cx="170688" cy="113792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560064" y="3990848"/>
            <a:ext cx="162560" cy="113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722624" y="3990848"/>
            <a:ext cx="97536" cy="113792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820160" y="3990848"/>
            <a:ext cx="105664" cy="113792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925824" y="3990848"/>
            <a:ext cx="121920" cy="11379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047744" y="3990848"/>
            <a:ext cx="121920" cy="113792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169664" y="3990848"/>
            <a:ext cx="186944" cy="113792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56608" y="3990848"/>
            <a:ext cx="105664" cy="113792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462272" y="3990848"/>
            <a:ext cx="89408" cy="113792"/>
          </a:xfrm>
          <a:prstGeom prst="rect">
            <a:avLst/>
          </a:prstGeom>
          <a:solidFill>
            <a:srgbClr val="C4C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551680" y="3990848"/>
            <a:ext cx="658368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Pentagon 112"/>
          <p:cNvSpPr/>
          <p:nvPr/>
        </p:nvSpPr>
        <p:spPr>
          <a:xfrm>
            <a:off x="7315200" y="3990848"/>
            <a:ext cx="1056640" cy="11379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135360" y="3990848"/>
            <a:ext cx="97536" cy="11379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232896" y="3990848"/>
            <a:ext cx="203200" cy="113792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436096" y="3990848"/>
            <a:ext cx="211328" cy="11379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647424" y="3990848"/>
            <a:ext cx="97536" cy="113792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744960" y="3990848"/>
            <a:ext cx="73152" cy="11379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818112" y="3990848"/>
            <a:ext cx="203200" cy="1137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2021312" y="3990848"/>
            <a:ext cx="162560" cy="11379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2183872" y="3990848"/>
            <a:ext cx="162560" cy="11379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2346432" y="3990848"/>
            <a:ext cx="186944" cy="11379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2533376" y="3990848"/>
            <a:ext cx="65024" cy="113792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088640" y="4169664"/>
            <a:ext cx="113792" cy="11379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202432" y="4169664"/>
            <a:ext cx="113792" cy="113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316224" y="4169664"/>
            <a:ext cx="105664" cy="113792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421888" y="4169664"/>
            <a:ext cx="146304" cy="1137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568192" y="4169664"/>
            <a:ext cx="73152" cy="11379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641344" y="4169664"/>
            <a:ext cx="65024" cy="11379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706368" y="4169664"/>
            <a:ext cx="97536" cy="11379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803904" y="4169664"/>
            <a:ext cx="89408" cy="113792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893312" y="4169664"/>
            <a:ext cx="65024" cy="11379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958336" y="4169664"/>
            <a:ext cx="113792" cy="11379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072128" y="4169664"/>
            <a:ext cx="162560" cy="113792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234688" y="4169664"/>
            <a:ext cx="130048" cy="113792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364736" y="4169664"/>
            <a:ext cx="154432" cy="11379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519168" y="4169664"/>
            <a:ext cx="32512" cy="113792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551680" y="4169664"/>
            <a:ext cx="658368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Pentagon 138"/>
          <p:cNvSpPr/>
          <p:nvPr/>
        </p:nvSpPr>
        <p:spPr>
          <a:xfrm>
            <a:off x="7315200" y="4169664"/>
            <a:ext cx="1056640" cy="11379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1135360" y="4169664"/>
            <a:ext cx="186944" cy="11379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1322304" y="4169664"/>
            <a:ext cx="186944" cy="11379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509248" y="4169664"/>
            <a:ext cx="138176" cy="113792"/>
          </a:xfrm>
          <a:prstGeom prst="rect">
            <a:avLst/>
          </a:prstGeom>
          <a:solidFill>
            <a:srgbClr val="C9C9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647424" y="4169664"/>
            <a:ext cx="97536" cy="113792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744960" y="4169664"/>
            <a:ext cx="146304" cy="113792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891264" y="4169664"/>
            <a:ext cx="186944" cy="113792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078208" y="4169664"/>
            <a:ext cx="195072" cy="113792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273280" y="4169664"/>
            <a:ext cx="113792" cy="11379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387072" y="4169664"/>
            <a:ext cx="154432" cy="113792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541504" y="4169664"/>
            <a:ext cx="56896" cy="113792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551680" y="3389376"/>
            <a:ext cx="0" cy="959104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151" name="Connector 150"/>
          <p:cNvCxnSpPr/>
          <p:nvPr/>
        </p:nvCxnSpPr>
        <p:spPr>
          <a:xfrm>
            <a:off x="11135360" y="3389376"/>
            <a:ext cx="0" cy="959104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sp>
        <p:nvSpPr>
          <p:cNvPr id="152" name="TextBox 151"/>
          <p:cNvSpPr txBox="1"/>
          <p:nvPr/>
        </p:nvSpPr>
        <p:spPr>
          <a:xfrm>
            <a:off x="2600960" y="4380992"/>
            <a:ext cx="243840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24" b="0">
                <a:solidFill>
                  <a:srgbClr val="6E6E6E"/>
                </a:solidFill>
                <a:latin typeface="DejaVu Sans"/>
              </a:rPr>
              <a:t>insertion sites (masked)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647680" y="4380992"/>
            <a:ext cx="243840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24" b="0">
                <a:solidFill>
                  <a:srgbClr val="6E6E6E"/>
                </a:solidFill>
                <a:latin typeface="DejaVu Sans"/>
              </a:rPr>
              <a:t>insertion sites (masked)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51680" y="4380992"/>
            <a:ext cx="658368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24" b="0">
                <a:solidFill>
                  <a:srgbClr val="C0392B"/>
                </a:solidFill>
                <a:latin typeface="DejaVu Sans"/>
              </a:rPr>
              <a:t>similarity ends at the element boundary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25120" y="4795520"/>
            <a:ext cx="3251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777777"/>
                </a:solidFill>
                <a:latin typeface="DejaVu Sans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50240" y="4795520"/>
            <a:ext cx="1056640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111111"/>
                </a:solidFill>
                <a:latin typeface="DejaVu Sans"/>
              </a:rPr>
              <a:t>TIR and TSD</a:t>
            </a:r>
            <a:r>
              <a:rPr sz="1216" b="0">
                <a:solidFill>
                  <a:srgbClr val="6E6E6E"/>
                </a:solidFill>
                <a:latin typeface="DejaVu Sans"/>
              </a:rPr>
              <a:t>      element ends form an inverted repeat, flanked by a target site duplication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566400" y="4795520"/>
            <a:ext cx="37388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80" b="1">
                <a:solidFill>
                  <a:srgbClr val="1B7F3B"/>
                </a:solidFill>
                <a:latin typeface="DejaVu Sans"/>
              </a:rPr>
              <a:t>✓ complete element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325120" y="5405120"/>
            <a:ext cx="1137920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sp>
        <p:nvSpPr>
          <p:cNvPr id="159" name="Rectangle 158"/>
          <p:cNvSpPr/>
          <p:nvPr/>
        </p:nvSpPr>
        <p:spPr>
          <a:xfrm>
            <a:off x="5364480" y="5348224"/>
            <a:ext cx="495808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Pentagon 159"/>
          <p:cNvSpPr/>
          <p:nvPr/>
        </p:nvSpPr>
        <p:spPr>
          <a:xfrm>
            <a:off x="7315200" y="5266944"/>
            <a:ext cx="1056640" cy="276352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315200" y="5266944"/>
            <a:ext cx="91846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CACTA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324096" y="5266944"/>
            <a:ext cx="227584" cy="27635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135360" y="5266944"/>
            <a:ext cx="227584" cy="27635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Pentagon 163"/>
          <p:cNvSpPr/>
          <p:nvPr/>
        </p:nvSpPr>
        <p:spPr>
          <a:xfrm>
            <a:off x="4551680" y="5266944"/>
            <a:ext cx="812800" cy="27635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551680" y="5266944"/>
            <a:ext cx="67462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FFFFFF"/>
                </a:solidFill>
                <a:latin typeface="DejaVu Sans"/>
              </a:rPr>
              <a:t>5'TIR</a:t>
            </a:r>
          </a:p>
        </p:txBody>
      </p:sp>
      <p:sp>
        <p:nvSpPr>
          <p:cNvPr id="166" name="Pentagon 165"/>
          <p:cNvSpPr/>
          <p:nvPr/>
        </p:nvSpPr>
        <p:spPr>
          <a:xfrm flipH="1">
            <a:off x="10322560" y="5266944"/>
            <a:ext cx="812800" cy="27635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460736" y="5266944"/>
            <a:ext cx="674624" cy="27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FFFFFF"/>
                </a:solidFill>
                <a:latin typeface="DejaVu Sans"/>
              </a:rPr>
              <a:t>3'TIR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080256" y="5600192"/>
            <a:ext cx="715264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E69F00"/>
                </a:solidFill>
                <a:latin typeface="DejaVu Sans"/>
              </a:rPr>
              <a:t>TSD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91520" y="5600192"/>
            <a:ext cx="715264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E69F00"/>
                </a:solidFill>
                <a:latin typeface="DejaVu Sans"/>
              </a:rPr>
              <a:t>TSD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51680" y="5031232"/>
            <a:ext cx="162560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88" b="0">
                <a:solidFill>
                  <a:srgbClr val="111111"/>
                </a:solidFill>
                <a:latin typeface="DejaVu Sans"/>
              </a:rPr>
              <a:t>CACTACG…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509760" y="5031232"/>
            <a:ext cx="162560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88" b="0">
                <a:solidFill>
                  <a:srgbClr val="111111"/>
                </a:solidFill>
                <a:latin typeface="DejaVu Sans"/>
              </a:rPr>
              <a:t>…CGTAGTG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2110720" y="510438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6E6E6E"/>
                </a:solidFill>
                <a:latin typeface="DejaVu Sans"/>
              </a:rPr>
              <a:t>TSD expected per superfamily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2110720" y="5283200"/>
            <a:ext cx="2194560" cy="0"/>
          </a:xfrm>
          <a:prstGeom prst="line">
            <a:avLst/>
          </a:prstGeom>
          <a:ln w="12700">
            <a:solidFill>
              <a:srgbClr val="CCCCCC"/>
            </a:solidFill>
          </a:ln>
        </p:spPr>
      </p:cxnSp>
      <p:sp>
        <p:nvSpPr>
          <p:cNvPr id="174" name="TextBox 173"/>
          <p:cNvSpPr txBox="1"/>
          <p:nvPr/>
        </p:nvSpPr>
        <p:spPr>
          <a:xfrm>
            <a:off x="12110720" y="5331968"/>
            <a:ext cx="130048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111111"/>
                </a:solidFill>
                <a:latin typeface="DejaVu Sans"/>
              </a:rPr>
              <a:t>Tc1/Mariner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3329920" y="5331968"/>
            <a:ext cx="97536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60" b="0">
                <a:solidFill>
                  <a:srgbClr val="111111"/>
                </a:solidFill>
                <a:latin typeface="DejaVu Sans"/>
              </a:rPr>
              <a:t>2 bp (TA)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2110720" y="5486400"/>
            <a:ext cx="130048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111111"/>
                </a:solidFill>
                <a:latin typeface="DejaVu Sans"/>
              </a:rPr>
              <a:t>PIF/Harbinger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3329920" y="5486400"/>
            <a:ext cx="97536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60" b="0">
                <a:solidFill>
                  <a:srgbClr val="111111"/>
                </a:solidFill>
                <a:latin typeface="DejaVu Sans"/>
              </a:rPr>
              <a:t>3 bp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2110720" y="5640832"/>
            <a:ext cx="130048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009E73"/>
                </a:solidFill>
                <a:latin typeface="DejaVu Sans"/>
              </a:rPr>
              <a:t>CACTA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3329920" y="5640832"/>
            <a:ext cx="97536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60" b="0">
                <a:solidFill>
                  <a:srgbClr val="111111"/>
                </a:solidFill>
                <a:latin typeface="DejaVu Sans"/>
              </a:rPr>
              <a:t>3 bp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110720" y="5795264"/>
            <a:ext cx="130048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0072B2"/>
                </a:solidFill>
                <a:latin typeface="DejaVu Sans"/>
              </a:rPr>
              <a:t>hAT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3329920" y="5795264"/>
            <a:ext cx="97536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60" b="0">
                <a:solidFill>
                  <a:srgbClr val="111111"/>
                </a:solidFill>
                <a:latin typeface="DejaVu Sans"/>
              </a:rPr>
              <a:t>≥ 6 bp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2110720" y="5949696"/>
            <a:ext cx="130048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>
                <a:solidFill>
                  <a:srgbClr val="CC79A7"/>
                </a:solidFill>
                <a:latin typeface="DejaVu Sans"/>
              </a:rPr>
              <a:t>MuDR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3329920" y="5949696"/>
            <a:ext cx="975360" cy="138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60" b="0">
                <a:solidFill>
                  <a:srgbClr val="111111"/>
                </a:solidFill>
                <a:latin typeface="DejaVu Sans"/>
              </a:rPr>
              <a:t>≥ 7 bp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25120" y="6299200"/>
            <a:ext cx="32512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777777"/>
                </a:solidFill>
                <a:latin typeface="DejaVu Sans"/>
              </a:rPr>
              <a:t>5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50240" y="6299200"/>
            <a:ext cx="1056640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36" b="0">
                <a:solidFill>
                  <a:srgbClr val="111111"/>
                </a:solidFill>
                <a:latin typeface="DejaVu Sans"/>
              </a:rPr>
              <a:t>Iterative search</a:t>
            </a:r>
            <a:r>
              <a:rPr sz="1216" b="0">
                <a:solidFill>
                  <a:srgbClr val="6E6E6E"/>
                </a:solidFill>
                <a:latin typeface="DejaVu Sans"/>
              </a:rPr>
              <a:t>      detected ends are searched for in the flanks of copies not yet resolved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566400" y="6299200"/>
            <a:ext cx="37388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80" b="1">
                <a:solidFill>
                  <a:srgbClr val="1B7F3B"/>
                </a:solidFill>
                <a:latin typeface="DejaVu Sans"/>
              </a:rPr>
              <a:t>↻ repeated rounds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68960" y="6868160"/>
            <a:ext cx="2032000" cy="894080"/>
          </a:xfrm>
          <a:prstGeom prst="roundRect">
            <a:avLst/>
          </a:prstGeom>
          <a:solidFill>
            <a:srgbClr val="F4F4F4"/>
          </a:solidFill>
          <a:ln w="15240">
            <a:solidFill>
              <a:srgbClr val="AAAA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68960" y="6933184"/>
            <a:ext cx="2032000" cy="178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24" b="0">
                <a:solidFill>
                  <a:srgbClr val="6E6E6E"/>
                </a:solidFill>
                <a:latin typeface="DejaVu Sans"/>
              </a:rPr>
              <a:t>detected element ends</a:t>
            </a:r>
          </a:p>
        </p:txBody>
      </p:sp>
      <p:sp>
        <p:nvSpPr>
          <p:cNvPr id="189" name="Pentagon 188"/>
          <p:cNvSpPr/>
          <p:nvPr/>
        </p:nvSpPr>
        <p:spPr>
          <a:xfrm>
            <a:off x="934720" y="7209536"/>
            <a:ext cx="406400" cy="11379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Pentagon 189"/>
          <p:cNvSpPr/>
          <p:nvPr/>
        </p:nvSpPr>
        <p:spPr>
          <a:xfrm flipH="1">
            <a:off x="1828800" y="7209536"/>
            <a:ext cx="406400" cy="11379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1341120" y="7266432"/>
            <a:ext cx="48768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sp>
        <p:nvSpPr>
          <p:cNvPr id="192" name="Pentagon 191"/>
          <p:cNvSpPr/>
          <p:nvPr/>
        </p:nvSpPr>
        <p:spPr>
          <a:xfrm>
            <a:off x="934720" y="7388352"/>
            <a:ext cx="406400" cy="11379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Pentagon 192"/>
          <p:cNvSpPr/>
          <p:nvPr/>
        </p:nvSpPr>
        <p:spPr>
          <a:xfrm flipH="1">
            <a:off x="1828800" y="7388352"/>
            <a:ext cx="406400" cy="11379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1341120" y="7445248"/>
            <a:ext cx="48768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sp>
        <p:nvSpPr>
          <p:cNvPr id="195" name="Pentagon 194"/>
          <p:cNvSpPr/>
          <p:nvPr/>
        </p:nvSpPr>
        <p:spPr>
          <a:xfrm>
            <a:off x="934720" y="7567168"/>
            <a:ext cx="406400" cy="11379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Pentagon 195"/>
          <p:cNvSpPr/>
          <p:nvPr/>
        </p:nvSpPr>
        <p:spPr>
          <a:xfrm flipH="1">
            <a:off x="1828800" y="7567168"/>
            <a:ext cx="406400" cy="113792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1341120" y="7624064"/>
            <a:ext cx="48768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cxnSp>
        <p:nvCxnSpPr>
          <p:cNvPr id="198" name="Connector 197"/>
          <p:cNvCxnSpPr/>
          <p:nvPr/>
        </p:nvCxnSpPr>
        <p:spPr>
          <a:xfrm>
            <a:off x="2682240" y="7315200"/>
            <a:ext cx="894080" cy="0"/>
          </a:xfrm>
          <a:prstGeom prst="line">
            <a:avLst/>
          </a:prstGeom>
          <a:ln w="25400">
            <a:solidFill>
              <a:srgbClr val="6E6E6E"/>
            </a:solidFill>
            <a:tailEnd type="triangle" w="med" len="med"/>
          </a:ln>
        </p:spPr>
      </p:cxnSp>
      <p:cxnSp>
        <p:nvCxnSpPr>
          <p:cNvPr id="199" name="Connector 198"/>
          <p:cNvCxnSpPr/>
          <p:nvPr/>
        </p:nvCxnSpPr>
        <p:spPr>
          <a:xfrm>
            <a:off x="3738880" y="6990080"/>
            <a:ext cx="934720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sp>
        <p:nvSpPr>
          <p:cNvPr id="200" name="Rectangle 199"/>
          <p:cNvSpPr/>
          <p:nvPr/>
        </p:nvSpPr>
        <p:spPr>
          <a:xfrm>
            <a:off x="3820160" y="6770624"/>
            <a:ext cx="3413760" cy="438912"/>
          </a:xfrm>
          <a:prstGeom prst="rect">
            <a:avLst/>
          </a:prstGeom>
          <a:solidFill>
            <a:srgbClr val="EBEBEB"/>
          </a:solidFill>
          <a:ln w="15240">
            <a:solidFill>
              <a:srgbClr val="AAAAA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8453120" y="6770624"/>
            <a:ext cx="4551680" cy="438912"/>
          </a:xfrm>
          <a:prstGeom prst="rect">
            <a:avLst/>
          </a:prstGeom>
          <a:solidFill>
            <a:srgbClr val="EBEBEB"/>
          </a:solidFill>
          <a:ln w="15240">
            <a:solidFill>
              <a:srgbClr val="AAAAA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70880" y="6933184"/>
            <a:ext cx="398272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Pentagon 202"/>
          <p:cNvSpPr/>
          <p:nvPr/>
        </p:nvSpPr>
        <p:spPr>
          <a:xfrm>
            <a:off x="7315200" y="6876288"/>
            <a:ext cx="1056640" cy="227584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315200" y="6876288"/>
            <a:ext cx="942848" cy="227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CACTA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730496" y="6876288"/>
            <a:ext cx="227584" cy="22758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0566400" y="6876288"/>
            <a:ext cx="227584" cy="22758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Pentagon 206"/>
          <p:cNvSpPr/>
          <p:nvPr/>
        </p:nvSpPr>
        <p:spPr>
          <a:xfrm>
            <a:off x="4958080" y="6876288"/>
            <a:ext cx="812800" cy="227584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958080" y="6876288"/>
            <a:ext cx="699008" cy="227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FFFFFF"/>
                </a:solidFill>
                <a:latin typeface="DejaVu Sans"/>
              </a:rPr>
              <a:t>5'TIR</a:t>
            </a:r>
          </a:p>
        </p:txBody>
      </p:sp>
      <p:sp>
        <p:nvSpPr>
          <p:cNvPr id="209" name="Pentagon 208"/>
          <p:cNvSpPr/>
          <p:nvPr/>
        </p:nvSpPr>
        <p:spPr>
          <a:xfrm flipH="1">
            <a:off x="9753600" y="6876288"/>
            <a:ext cx="812800" cy="227584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867392" y="6876288"/>
            <a:ext cx="699008" cy="227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FFFFFF"/>
                </a:solidFill>
                <a:latin typeface="DejaVu Sans"/>
              </a:rPr>
              <a:t>3'TIR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3738880" y="7599680"/>
            <a:ext cx="9347200" cy="0"/>
          </a:xfrm>
          <a:prstGeom prst="line">
            <a:avLst/>
          </a:prstGeom>
          <a:ln w="19050">
            <a:solidFill>
              <a:srgbClr val="CCCCCC"/>
            </a:solidFill>
          </a:ln>
        </p:spPr>
      </p:cxnSp>
      <p:sp>
        <p:nvSpPr>
          <p:cNvPr id="212" name="Rectangle 211"/>
          <p:cNvSpPr/>
          <p:nvPr/>
        </p:nvSpPr>
        <p:spPr>
          <a:xfrm>
            <a:off x="3820160" y="7380224"/>
            <a:ext cx="3413760" cy="438912"/>
          </a:xfrm>
          <a:prstGeom prst="rect">
            <a:avLst/>
          </a:prstGeom>
          <a:solidFill>
            <a:srgbClr val="EBEBEB"/>
          </a:solidFill>
          <a:ln w="15240">
            <a:solidFill>
              <a:srgbClr val="AAAAA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453120" y="7380224"/>
            <a:ext cx="4551680" cy="438912"/>
          </a:xfrm>
          <a:prstGeom prst="rect">
            <a:avLst/>
          </a:prstGeom>
          <a:solidFill>
            <a:srgbClr val="EBEBEB"/>
          </a:solidFill>
          <a:ln w="15240">
            <a:solidFill>
              <a:srgbClr val="AAAAA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039360" y="7542784"/>
            <a:ext cx="5527040" cy="113792"/>
          </a:xfrm>
          <a:prstGeom prst="rect">
            <a:avLst/>
          </a:prstGeom>
          <a:solidFill>
            <a:srgbClr val="CCE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Pentagon 214"/>
          <p:cNvSpPr/>
          <p:nvPr/>
        </p:nvSpPr>
        <p:spPr>
          <a:xfrm>
            <a:off x="7315200" y="7485888"/>
            <a:ext cx="1056640" cy="227584"/>
          </a:xfrm>
          <a:prstGeom prst="homePlate">
            <a:avLst/>
          </a:prstGeom>
          <a:solidFill>
            <a:srgbClr val="009E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315200" y="7485888"/>
            <a:ext cx="942848" cy="227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16" b="1">
                <a:solidFill>
                  <a:srgbClr val="FFFFFF"/>
                </a:solidFill>
                <a:latin typeface="DejaVu Sans"/>
              </a:rPr>
              <a:t>CACTA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998976" y="7485888"/>
            <a:ext cx="227584" cy="22758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1379200" y="7485888"/>
            <a:ext cx="227584" cy="22758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Pentagon 218"/>
          <p:cNvSpPr/>
          <p:nvPr/>
        </p:nvSpPr>
        <p:spPr>
          <a:xfrm>
            <a:off x="4226560" y="7485888"/>
            <a:ext cx="812800" cy="227584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226560" y="7485888"/>
            <a:ext cx="699008" cy="227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FFFFFF"/>
                </a:solidFill>
                <a:latin typeface="DejaVu Sans"/>
              </a:rPr>
              <a:t>5'TIR</a:t>
            </a:r>
          </a:p>
        </p:txBody>
      </p:sp>
      <p:sp>
        <p:nvSpPr>
          <p:cNvPr id="221" name="Pentagon 220"/>
          <p:cNvSpPr/>
          <p:nvPr/>
        </p:nvSpPr>
        <p:spPr>
          <a:xfrm flipH="1">
            <a:off x="10566400" y="7485888"/>
            <a:ext cx="812800" cy="227584"/>
          </a:xfrm>
          <a:prstGeom prst="homePlate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680192" y="7485888"/>
            <a:ext cx="699008" cy="227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88" b="1">
                <a:solidFill>
                  <a:srgbClr val="FFFFFF"/>
                </a:solidFill>
                <a:latin typeface="DejaVu Sans"/>
              </a:rPr>
              <a:t>3'TIR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584960" y="7294880"/>
            <a:ext cx="12232640" cy="792480"/>
          </a:xfrm>
          <a:custGeom>
            <a:avLst/>
            <a:gdLst/>
            <a:ahLst/>
            <a:cxnLst/>
            <a:rect l="0" t="0" r="r" b="b"/>
            <a:pathLst>
              <a:path w="12232640" h="792480" fill="none">
                <a:moveTo>
                  <a:pt x="11517376" y="0"/>
                </a:moveTo>
                <a:cubicBezTo>
                  <a:pt x="12232640" y="0"/>
                  <a:pt x="12232640" y="792480"/>
                  <a:pt x="11501120" y="792480"/>
                </a:cubicBezTo>
                <a:lnTo>
                  <a:pt x="406400" y="792480"/>
                </a:lnTo>
                <a:cubicBezTo>
                  <a:pt x="0" y="792480"/>
                  <a:pt x="0" y="792480"/>
                  <a:pt x="0" y="516128"/>
                </a:cubicBezTo>
              </a:path>
            </a:pathLst>
          </a:custGeom>
          <a:noFill/>
          <a:ln w="25400">
            <a:solidFill>
              <a:srgbClr val="6E6E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738880" y="8136128"/>
            <a:ext cx="9347200" cy="195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24" b="0">
                <a:solidFill>
                  <a:srgbClr val="6E6E6E"/>
                </a:solidFill>
                <a:latin typeface="DejaVu Sans"/>
              </a:rPr>
              <a:t>new elements are added to the set of ends and the search is repeated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